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ACE0EE-BD1D-4FFC-A17C-97493650FC66}">
  <a:tblStyle styleId="{8CACE0EE-BD1D-4FFC-A17C-97493650FC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03ae30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g33e703ae301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dc2d4c99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g34dc2d4c998_0_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a69e62482b20aa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1ea69e62482b20aa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40d28726eb68fb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c40d28726eb68fb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40d28726eb68fb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c40d28726eb68fb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ea69e62482b20aa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1ea69e62482b20aa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e703ae301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3e703ae301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40d28726eb68f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c40d28726eb68fb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e703ae301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3e703ae301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ea69e62482b20aa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1ea69e62482b20aa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e703ae301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3e703ae301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e703ae301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3e703ae301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e703ae30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3e703ae301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e703ae30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3e703ae301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e703ae301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3e703ae301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e703ae301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3e703ae301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e703ae301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3e703ae301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e703ae3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3e703ae30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f36d8a42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4f36d8a426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ea69e62482b20a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1ea69e62482b20aa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dc2d4c99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4dc2d4c998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379ba064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5379ba064a_0_1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dc2d4c99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4dc2d4c998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379ba064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5379ba064a_0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379ba06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5379ba064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392e7be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5392e7be67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dc2d4c99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4dc2d4c998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392e7be6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5392e7be67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392e7be6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5392e7be67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dc2d4c99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4dc2d4c998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dc2d4c99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4dc2d4c998_0_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dc2d4c99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4dc2d4c998_0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dc2d4c99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4dc2d4c998_0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3d254e9c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53d254e9c5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dc2d4c99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4dc2d4c998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3d254e9c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g353d254e9c5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4f36d8a4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4f36d8a426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f36d8a42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34f36d8a426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f383c93c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4f383c93c7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fddbf4657f14d1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7fddbf4657f14d18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fddbf4657f14d1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7fddbf4657f14d18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3d254e9c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g353d254e9c5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53d254e9c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53d254e9c5_0_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3d254e9c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53d254e9c5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53d254e9c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53d254e9c5_0_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ea69e62482b20aa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1ea69e62482b20aa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dc2d4c99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4dc2d4c998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40d28726eb68fb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g3c40d28726eb68fb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ea69e62482b20aa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1ea69e62482b20aa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40d28726eb68fb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g3c40d28726eb68fb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40d28726eb68fb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c40d28726eb68fb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359fdb28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g35359fdb280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40d28726eb68fb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c40d28726eb68fb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aclanthology.org/2023.alta-1.22" TargetMode="External"/><Relationship Id="rId4" Type="http://schemas.openxmlformats.org/officeDocument/2006/relationships/hyperlink" Target="https://aclanthology.org/2024.findings-emnlp.992" TargetMode="External"/><Relationship Id="rId5" Type="http://schemas.openxmlformats.org/officeDocument/2006/relationships/hyperlink" Target="https://aclanthology.org/2024.icon-1.21.pdf" TargetMode="External"/><Relationship Id="rId6" Type="http://schemas.openxmlformats.org/officeDocument/2006/relationships/hyperlink" Target="https://aclanthology.org/2024.icon-1.24/" TargetMode="External"/></Relationships>
</file>

<file path=ppt/slides/_rels/slide53.xml.rels><?xml version="1.0" encoding="UTF-8" standalone="yes"?><Relationships xmlns="http://schemas.openxmlformats.org/package/2006/relationships"><Relationship Id="rId11" Type="http://schemas.openxmlformats.org/officeDocument/2006/relationships/hyperlink" Target="https://papers.nips.cc/paper_files/paper/2024/file/bc808cf2d2444b0abcceca366b771389-Paper-Conference.pdf" TargetMode="External"/><Relationship Id="rId10" Type="http://schemas.openxmlformats.org/officeDocument/2006/relationships/hyperlink" Target="https://proceedings.neurips.cc/paper_files/paper/2023/file/30e15e5941ae0cdab7ef58cc8d59a4ca-Paper-Conference.pdf" TargetMode="External"/><Relationship Id="rId12" Type="http://schemas.openxmlformats.org/officeDocument/2006/relationships/hyperlink" Target="https://aclanthology.org/2024.findings-emnlp.992/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aclanthology.org/2025.genaidetect-1.33.pdf" TargetMode="External"/><Relationship Id="rId4" Type="http://schemas.openxmlformats.org/officeDocument/2006/relationships/hyperlink" Target="https://arxiv.org/pdf/2405.16422" TargetMode="External"/><Relationship Id="rId9" Type="http://schemas.openxmlformats.org/officeDocument/2006/relationships/hyperlink" Target="https://drive.google.com/file/d/1X623eQAypT4bY5MPnnkLKklYWvNXE-Xc/view?usp=sharing" TargetMode="External"/><Relationship Id="rId5" Type="http://schemas.openxmlformats.org/officeDocument/2006/relationships/hyperlink" Target="https://arxiv.org/pdf/2405.16422" TargetMode="External"/><Relationship Id="rId6" Type="http://schemas.openxmlformats.org/officeDocument/2006/relationships/hyperlink" Target="https://arxiv.org/pdf/2405.16422" TargetMode="External"/><Relationship Id="rId7" Type="http://schemas.openxmlformats.org/officeDocument/2006/relationships/hyperlink" Target="https://drive.google.com/file/d/1X623eQAypT4bY5MPnnkLKklYWvNXE-Xc/view?usp=sharing" TargetMode="External"/><Relationship Id="rId8" Type="http://schemas.openxmlformats.org/officeDocument/2006/relationships/hyperlink" Target="https://drive.google.com/file/d/1X623eQAypT4bY5MPnnkLKklYWvNXE-Xc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57200" y="219547"/>
            <a:ext cx="8229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AI Generated Text (AGT) Detection</a:t>
            </a:r>
            <a:endParaRPr b="1" sz="4000"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457200" y="1509224"/>
            <a:ext cx="8229600" cy="3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en" sz="20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Research Papers analysis</a:t>
            </a:r>
            <a:endParaRPr i="1" sz="20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en" sz="20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i="1" sz="20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20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Nidhi (22075054)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Shaunak Marathe (22075099)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en" sz="20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i="1" sz="20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Dr. Amrita Chaturvedi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Related Research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Char char="❏"/>
            </a:pPr>
            <a:r>
              <a:rPr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15"/>
          <p:cNvCxnSpPr/>
          <p:nvPr/>
        </p:nvCxnSpPr>
        <p:spPr>
          <a:xfrm>
            <a:off x="492300" y="9370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200" y="1207975"/>
            <a:ext cx="82296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Calibri"/>
              <a:buChar char="➢"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 investigates state-of-the-art techniques for detecting AI-generated text (AGT) vs. human-written text (HWT).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Calibri"/>
              <a:buChar char="➢"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Focuses on a comparative study of recurrent (LSTM, GRU) and Transformer-based (BERT) architectures.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Calibri"/>
              <a:buChar char="➢"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Evaluates unidirectional vs. bidirectional processing and their impact on accuracy and efficiency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492300" y="9370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57200" y="1207975"/>
            <a:ext cx="82296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5275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Calibri"/>
              <a:buChar char="➢"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Rise of advanced LLMs (e.g., GPT-4, Claude) makes AI Generated Text harder to detect.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Calibri"/>
              <a:buChar char="➢"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methods (e.g., perplexity, lexical analysis) struggle with modern Large Language Models.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Calibri"/>
              <a:buChar char="➢"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AGT can now mimic human tone, structure, and grammar almost perfectly.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Calibri"/>
              <a:buChar char="➢"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models either have high hardware constraints or high false positives, we aim to explore ways to minimize these.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17"/>
          <p:cNvCxnSpPr/>
          <p:nvPr/>
        </p:nvCxnSpPr>
        <p:spPr>
          <a:xfrm>
            <a:off x="492300" y="9370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457200" y="126832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Related Research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57200" y="2325650"/>
            <a:ext cx="82296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present Transformer based models for research: AI generated text detection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457200" y="125715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Recurrent Network Based Models</a:t>
            </a:r>
            <a:endParaRPr b="1" sz="3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898" y="2473001"/>
            <a:ext cx="5556200" cy="18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Detecting AI-Generated Text with Linguistic Features</a:t>
            </a:r>
            <a:endParaRPr b="1" sz="3400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2024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HC3-English, GPT-3, GPT-4 texts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(Linguistic) Readability, Complexity, Perplexity, Burstiness, Activ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e/Passive voice scores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CNN_BiLSTM, Roberta, RNNs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Best Accuracy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Roberta at 99.73%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Increasingly difficult as AI improves (AI now mimics human nuances).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0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vs Machine: An Automated Machine-Generated Text Detection</a:t>
            </a:r>
            <a:endParaRPr b="1" sz="340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2024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95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human-written and LLM-generated texts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95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Readability Score, Unique Word Score, Stop Word Score, Error Count, Human Phrases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95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SVM, Random Forest, XGBoost, BiLSTM, distilBERT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95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Best Accuracy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DistilBERT with post processing: 87.5%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95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BiLSTM excelled at identifying human-written texts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95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Feature set limited, recommends further exploration using various models.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21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Enhancing AI Text Detection: Bi-LSTM and Transformer Fusion</a:t>
            </a:r>
            <a:endParaRPr b="1" sz="340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2024 (IEEE)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Human and AI essays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TF-IDF vectorization, SMOTE (Synthetic Minority Oversampling Technique) for class imbalance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Bi-LSTM (captures lo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 context)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+ Transformer (captures global context) Block fusion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98%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Requires larger datasets and balanced techniques li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 focal loss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22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457200" y="140955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 Based Models</a:t>
            </a:r>
            <a:endParaRPr b="1" sz="3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088" y="2419354"/>
            <a:ext cx="3429818" cy="226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Transformer-Based Ensemble for AI-Generated Text Detection</a:t>
            </a:r>
            <a:endParaRPr b="1" sz="3400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2023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ALTA 2023 Shared Task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Model Ensemble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ALBERT, ELECTRA, Roberta, XLNet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Stacking transformers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Individually RoBERTa performed best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Best Accuracy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ensemble: 95.5%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Computationally intensive,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depends on base models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24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RADAR: Robust AI-Text Detection with Adversarial Learning</a:t>
            </a:r>
            <a:endParaRPr b="1" sz="340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2023 (IEEE)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Synthetic adversarial dataset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Detector (LLM) vs Paraphraser (LLM) in adversarial loop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Detector detects Human Written Text or AI Generated Text, while P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araphraser rewrites AI text (to deceive the detector)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91.3%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High computational resource requirements,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 implementation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25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 AI Text Detection via Restricted Embeddings</a:t>
            </a:r>
            <a:endParaRPr b="1" sz="3400"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2024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ATD and SemEval-2024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Subspace removal in embeddings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Ignores misleading/unnecessary features for better generalization, filtered out noise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Accuracy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Boost: 9% for Roberta, 14% for BERT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Requires further validation across diverse domains.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26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AI-Generated Text Detection and Classification Using BERT</a:t>
            </a:r>
            <a:endParaRPr b="1" sz="34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2024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Private 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AI-generated and human texts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NLP Preprocessing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Lowercasing, Tokenization, Stop-word Removal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BERT with MLM (Masked Language Modeling) and NSP (Next Sentence prediction)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94.78%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Small dataset size limits, generalization, stop word remov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 can remove human phrases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7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BISCOPE: AI Text Detection with Memorization Check</a:t>
            </a:r>
            <a:endParaRPr b="1" sz="3400"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2024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Code, essays, arXiv papers, Yelp reviews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AI Models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GPT-4, Claude, Gemini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Bidirection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Cross-entropy loss on token predictions (forward &amp;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backward loss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Detection F1 Score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0.95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Recommends further integration of contextual information(better exploitation of token info).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28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EssayDetect: Multilingual AI Essay Detection</a:t>
            </a:r>
            <a:endParaRPr b="1" sz="3400"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457200" y="13525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2025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(COLING)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Multilingual academic essays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Stylometry, Linguistics, PLM (Pre-trained Language model) Embeddings, focal loss for imbalance, LIME (Local Interpretable Model-agnostic Explanations) for feature extraction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DeBERTa/AraBERT (English: 0.978, Arabic: 0.9429)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Char char="➔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High false positive rates,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struggles with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linguistic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nuances, different feature extraction like SHAP (SHapley Additive exPlanations)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9"/>
          <p:cNvCxnSpPr/>
          <p:nvPr/>
        </p:nvCxnSpPr>
        <p:spPr>
          <a:xfrm>
            <a:off x="492300" y="11656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Conclusion of Related research</a:t>
            </a:r>
            <a:endParaRPr b="1" sz="3400"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457200" y="1284175"/>
            <a:ext cx="82296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Various models applied, from traditional Machine Learning to deep learning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Transformer-based models like BERT and Roberta dominate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Fusion/Hybrid/ensemble performed better than individual models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Bidirectional models performed better than unidirectional models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Adversarial learning explored for robustness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Generated Text are more predictable (deterministic) in context in both directions (forward and backward)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30"/>
          <p:cNvCxnSpPr/>
          <p:nvPr/>
        </p:nvCxnSpPr>
        <p:spPr>
          <a:xfrm>
            <a:off x="492300" y="10132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Combined Limitations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457200" y="1207975"/>
            <a:ext cx="82296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Dataset Constraints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Small datasets limit generalization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Computational</a:t>
            </a: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 costs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High complexity and hardware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Feature Limitations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Extracted features may not be sufficient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Adversarial Resistance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Some models are vulnerable to evasion attacks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Cross domain robustness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Models may not generalize across different domains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Generated Text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is constantly evolving, adapting to human writing style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31"/>
          <p:cNvCxnSpPr/>
          <p:nvPr/>
        </p:nvCxnSpPr>
        <p:spPr>
          <a:xfrm>
            <a:off x="492300" y="10132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457200" y="1286347"/>
            <a:ext cx="8229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Methodology of Implementation</a:t>
            </a:r>
            <a:endParaRPr b="1" sz="4000"/>
          </a:p>
        </p:txBody>
      </p:sp>
      <p:sp>
        <p:nvSpPr>
          <p:cNvPr id="183" name="Google Shape;183;p32"/>
          <p:cNvSpPr txBox="1"/>
          <p:nvPr>
            <p:ph type="title"/>
          </p:nvPr>
        </p:nvSpPr>
        <p:spPr>
          <a:xfrm>
            <a:off x="457200" y="2507399"/>
            <a:ext cx="8229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Research Paper analysis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Brief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Task [Binary - human written or AI generated]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models (4 RNNs + 1 Transformer)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○"/>
            </a:pPr>
            <a: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2" marL="1371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■"/>
            </a:pPr>
            <a: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LSTM, GRU, Bi-LSTM, Bi-GRU</a:t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○"/>
            </a:pPr>
            <a: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Transformer: BERT</a:t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Unidirectional v/s Bidirectional performance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stats and analysis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report, Accuracy Loss plots for visuals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33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Model = </a:t>
            </a: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LSTM/GRU/Bi-LSTM/Bi-GRU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4"/>
          <p:cNvSpPr txBox="1"/>
          <p:nvPr/>
        </p:nvSpPr>
        <p:spPr>
          <a:xfrm>
            <a:off x="3333150" y="1139575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Doc2Vec Embedding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4"/>
          <p:cNvSpPr txBox="1"/>
          <p:nvPr/>
        </p:nvSpPr>
        <p:spPr>
          <a:xfrm>
            <a:off x="3333150" y="1766650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Layer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4"/>
          <p:cNvSpPr txBox="1"/>
          <p:nvPr/>
        </p:nvSpPr>
        <p:spPr>
          <a:xfrm>
            <a:off x="3333150" y="2429738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Layer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4"/>
          <p:cNvSpPr txBox="1"/>
          <p:nvPr/>
        </p:nvSpPr>
        <p:spPr>
          <a:xfrm>
            <a:off x="3333150" y="3074413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Layer 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3333150" y="3714550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Layer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3337575" y="4389625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Sigmoid Classifier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4460400" y="1591675"/>
            <a:ext cx="223200" cy="22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/>
          <p:nvPr/>
        </p:nvSpPr>
        <p:spPr>
          <a:xfrm>
            <a:off x="4460400" y="2277475"/>
            <a:ext cx="223200" cy="22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4"/>
          <p:cNvSpPr/>
          <p:nvPr/>
        </p:nvSpPr>
        <p:spPr>
          <a:xfrm>
            <a:off x="4460400" y="3572875"/>
            <a:ext cx="223200" cy="22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4"/>
          <p:cNvSpPr/>
          <p:nvPr/>
        </p:nvSpPr>
        <p:spPr>
          <a:xfrm>
            <a:off x="4460400" y="2963275"/>
            <a:ext cx="223200" cy="22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4"/>
          <p:cNvSpPr/>
          <p:nvPr/>
        </p:nvSpPr>
        <p:spPr>
          <a:xfrm>
            <a:off x="4460400" y="4258675"/>
            <a:ext cx="223200" cy="22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5"/>
          <p:cNvSpPr txBox="1"/>
          <p:nvPr/>
        </p:nvSpPr>
        <p:spPr>
          <a:xfrm>
            <a:off x="3333150" y="1291975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 Tokenizer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3333150" y="2071450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 embedding layer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5"/>
          <p:cNvSpPr txBox="1"/>
          <p:nvPr/>
        </p:nvSpPr>
        <p:spPr>
          <a:xfrm>
            <a:off x="3333150" y="2801875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 Layer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5"/>
          <p:cNvSpPr txBox="1"/>
          <p:nvPr/>
        </p:nvSpPr>
        <p:spPr>
          <a:xfrm>
            <a:off x="3333150" y="3558763"/>
            <a:ext cx="2477700" cy="528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 classifier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5"/>
          <p:cNvSpPr/>
          <p:nvPr/>
        </p:nvSpPr>
        <p:spPr>
          <a:xfrm>
            <a:off x="4460400" y="1820275"/>
            <a:ext cx="223200" cy="33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5"/>
          <p:cNvSpPr/>
          <p:nvPr/>
        </p:nvSpPr>
        <p:spPr>
          <a:xfrm>
            <a:off x="4460400" y="2582275"/>
            <a:ext cx="223200" cy="33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5"/>
          <p:cNvSpPr/>
          <p:nvPr/>
        </p:nvSpPr>
        <p:spPr>
          <a:xfrm>
            <a:off x="4460400" y="3268075"/>
            <a:ext cx="223200" cy="33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Model - 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D5A6BD"/>
              </a:buClr>
              <a:buSzPts val="2200"/>
              <a:buFont typeface="Calibri"/>
              <a:buChar char="➔"/>
            </a:pPr>
            <a:r>
              <a:rPr b="1" lang="en" sz="2200">
                <a:solidFill>
                  <a:srgbClr val="D5A6BD"/>
                </a:solidFill>
                <a:latin typeface="Calibri"/>
                <a:ea typeface="Calibri"/>
                <a:cs typeface="Calibri"/>
                <a:sym typeface="Calibri"/>
              </a:rPr>
              <a:t>Long-Short Term Memory network (type of RNN)</a:t>
            </a:r>
            <a:endParaRPr b="1" sz="2200">
              <a:solidFill>
                <a:srgbClr val="D5A6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Captures long-range dependencies (memory)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Processes text sequentially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 are first encoded using Doc2Vec to capture global semantics.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fixed-length embeddings are fed into a 4-layer stacked LSTM with dropout regularization.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final output is passed through a sigmoid classifier to determine whether the text is AI- or human-generated.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36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37"/>
          <p:cNvPicPr preferRelativeResize="0"/>
          <p:nvPr/>
        </p:nvPicPr>
        <p:blipFill rotWithShape="1">
          <a:blip r:embed="rId3">
            <a:alphaModFix/>
          </a:blip>
          <a:srcRect b="0" l="1681" r="0" t="0"/>
          <a:stretch/>
        </p:blipFill>
        <p:spPr>
          <a:xfrm>
            <a:off x="804938" y="969175"/>
            <a:ext cx="7534126" cy="38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8"/>
          <p:cNvPicPr preferRelativeResize="0"/>
          <p:nvPr/>
        </p:nvPicPr>
        <p:blipFill rotWithShape="1">
          <a:blip r:embed="rId3">
            <a:alphaModFix/>
          </a:blip>
          <a:srcRect b="0" l="1681" r="0" t="0"/>
          <a:stretch/>
        </p:blipFill>
        <p:spPr>
          <a:xfrm>
            <a:off x="804938" y="969175"/>
            <a:ext cx="7534126" cy="38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663" y="1063379"/>
            <a:ext cx="4442676" cy="377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Model - </a:t>
            </a: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b="1" lang="en" sz="2200">
                <a:solidFill>
                  <a:srgbClr val="D5A6BD"/>
                </a:solidFill>
                <a:latin typeface="Calibri"/>
                <a:ea typeface="Calibri"/>
                <a:cs typeface="Calibri"/>
                <a:sym typeface="Calibri"/>
              </a:rPr>
              <a:t>Gated Recurrent Unit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(lightweight variant of LSTM)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 two gates: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◆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gate: Decides how much past information to retain.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◆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Reset gate: Determines how new input interacts with memory.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 are first encoded using Doc2Vec to capture global semantics.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fixed-length embeddings are fed into a 4-layer stacked GRU with dropout regularization.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final output is passed through a sigmoid classifier to determine whether the text is AI- or human-generated.</a:t>
            </a:r>
            <a:endParaRPr sz="2450"/>
          </a:p>
        </p:txBody>
      </p:sp>
      <p:cxnSp>
        <p:nvCxnSpPr>
          <p:cNvPr id="250" name="Google Shape;250;p40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1"/>
          <p:cNvSpPr txBox="1"/>
          <p:nvPr/>
        </p:nvSpPr>
        <p:spPr>
          <a:xfrm>
            <a:off x="1266900" y="4617925"/>
            <a:ext cx="66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50" y="1215779"/>
            <a:ext cx="7453712" cy="3249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2"/>
          <p:cNvSpPr txBox="1"/>
          <p:nvPr/>
        </p:nvSpPr>
        <p:spPr>
          <a:xfrm>
            <a:off x="1266900" y="4617925"/>
            <a:ext cx="66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4466"/>
            <a:ext cx="8839202" cy="291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Model - </a:t>
            </a: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Bi-LSTM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D5A6BD"/>
              </a:buClr>
              <a:buSzPts val="2200"/>
              <a:buFont typeface="Calibri"/>
              <a:buChar char="➔"/>
            </a:pPr>
            <a:r>
              <a:rPr b="1" lang="en" sz="2200">
                <a:solidFill>
                  <a:srgbClr val="D5A6BD"/>
                </a:solidFill>
                <a:latin typeface="Calibri"/>
                <a:ea typeface="Calibri"/>
                <a:cs typeface="Calibri"/>
                <a:sym typeface="Calibri"/>
              </a:rPr>
              <a:t>Bi-directional LSTM</a:t>
            </a:r>
            <a:endParaRPr b="1" sz="2200">
              <a:solidFill>
                <a:srgbClr val="D5A6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Captures long-range dependencies in both forward and backward directions.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Processes text in both directions (forward and backward) to capture contextual information from both past and future.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 are encoded using Doc2Vec embeddings.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fixed-length embeddings are fed into a 4-layer stacked Bi-LSTM with dropout regularization.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final output is passed through a sigmoid classifier  [AI-generated (1) or human-written (0)].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43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Bi-LSTM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4"/>
          <p:cNvSpPr txBox="1"/>
          <p:nvPr/>
        </p:nvSpPr>
        <p:spPr>
          <a:xfrm>
            <a:off x="1266900" y="4617925"/>
            <a:ext cx="66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78" name="Google Shape;27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8"/>
            <a:ext cx="8573452" cy="3249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Model - </a:t>
            </a: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Bi-GRU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5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D5A6BD"/>
              </a:buClr>
              <a:buSzPts val="2200"/>
              <a:buFont typeface="Calibri"/>
              <a:buChar char="➔"/>
            </a:pPr>
            <a:r>
              <a:rPr b="1" lang="en" sz="2200">
                <a:solidFill>
                  <a:srgbClr val="D5A6BD"/>
                </a:solidFill>
                <a:latin typeface="Calibri"/>
                <a:ea typeface="Calibri"/>
                <a:cs typeface="Calibri"/>
                <a:sym typeface="Calibri"/>
              </a:rPr>
              <a:t>Bi-directional Gated Recurrent Unit</a:t>
            </a:r>
            <a:endParaRPr b="1" sz="2200">
              <a:solidFill>
                <a:srgbClr val="D5A6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Captures long-range dependencies in both forward and backward directions using GRU units.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Processes text bidirectionally for improved contextual awareness while maintaining GRU's computational efficiency.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 are encoded using Doc2Vec embeddings.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embeddings are passed through a 4-layer stacked Bi-GRU with dropout regularization.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final output is passed through a sigmoid classifier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45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Model - </a:t>
            </a: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D5A6BD"/>
              </a:buClr>
              <a:buSzPts val="2200"/>
              <a:buFont typeface="Calibri"/>
              <a:buChar char="➔"/>
            </a:pPr>
            <a:r>
              <a:rPr b="1" lang="en" sz="2200">
                <a:solidFill>
                  <a:srgbClr val="D5A6BD"/>
                </a:solidFill>
                <a:latin typeface="Calibri"/>
                <a:ea typeface="Calibri"/>
                <a:cs typeface="Calibri"/>
                <a:sym typeface="Calibri"/>
              </a:rPr>
              <a:t>Bidirectional Encoder Representations from Transformers</a:t>
            </a:r>
            <a:endParaRPr b="1" sz="2200">
              <a:solidFill>
                <a:srgbClr val="D5A6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Captures bidirectional context using self-attention across the entire input sequence, unlike RNNs which process sequentially.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Utilizes pre-trained knowledge from large corpora through Masked Language Modeling (MLM) and Next Sentence Prediction (NSP) tasks.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Incorporates built-in embeddings (token, positional, and segment) to understand lexical, positional, and sentence-level structure.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Masked learning is learned based on context And Next sentence prediction is based on whether the sentences follow.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46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Model - BERT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7"/>
          <p:cNvSpPr txBox="1"/>
          <p:nvPr>
            <p:ph idx="1" type="body"/>
          </p:nvPr>
        </p:nvSpPr>
        <p:spPr>
          <a:xfrm>
            <a:off x="457200" y="979375"/>
            <a:ext cx="82296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fine-tuned model includes a pre-trained BERT base with an added classification head (fully connected layer + sigmoid activation) for binary classification.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➔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 is performed on a labeled dataset (0 = Human-Written, 1 = Machine-Generated) to specialize the model for AI text detection.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47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8"/>
          <p:cNvSpPr txBox="1"/>
          <p:nvPr/>
        </p:nvSpPr>
        <p:spPr>
          <a:xfrm>
            <a:off x="1266900" y="4617925"/>
            <a:ext cx="66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306" name="Google Shape;30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666452"/>
            <a:ext cx="3154525" cy="32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8"/>
          <p:cNvSpPr txBox="1"/>
          <p:nvPr/>
        </p:nvSpPr>
        <p:spPr>
          <a:xfrm>
            <a:off x="703063" y="1203450"/>
            <a:ext cx="27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Multi-head self-attention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3625" y="961350"/>
            <a:ext cx="3652925" cy="39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type="title"/>
          </p:nvPr>
        </p:nvSpPr>
        <p:spPr>
          <a:xfrm>
            <a:off x="457200" y="126832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457200" y="2325650"/>
            <a:ext cx="82296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Plots, Classification report, and conclusion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4400"/>
            <a:ext cx="8839200" cy="279469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LST</a:t>
            </a: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4450"/>
            <a:ext cx="8839201" cy="277460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4450"/>
            <a:ext cx="8839201" cy="277460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Bi-LSTM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4400"/>
            <a:ext cx="8839200" cy="279469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Bi-GRU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2900"/>
            <a:ext cx="8839201" cy="275770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LSTM and Bi-LSTM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55"/>
          <p:cNvPicPr preferRelativeResize="0"/>
          <p:nvPr/>
        </p:nvPicPr>
        <p:blipFill rotWithShape="1">
          <a:blip r:embed="rId3">
            <a:alphaModFix/>
          </a:blip>
          <a:srcRect b="2931" l="1938" r="2559" t="0"/>
          <a:stretch/>
        </p:blipFill>
        <p:spPr>
          <a:xfrm>
            <a:off x="134143" y="1726825"/>
            <a:ext cx="4026632" cy="14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5"/>
          <p:cNvPicPr preferRelativeResize="0"/>
          <p:nvPr/>
        </p:nvPicPr>
        <p:blipFill rotWithShape="1">
          <a:blip r:embed="rId4">
            <a:alphaModFix/>
          </a:blip>
          <a:srcRect b="2657" l="2540" r="1212" t="2095"/>
          <a:stretch/>
        </p:blipFill>
        <p:spPr>
          <a:xfrm>
            <a:off x="4572000" y="1603025"/>
            <a:ext cx="4395300" cy="157823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5"/>
          <p:cNvSpPr txBox="1"/>
          <p:nvPr/>
        </p:nvSpPr>
        <p:spPr>
          <a:xfrm>
            <a:off x="505150" y="3433950"/>
            <a:ext cx="33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55"/>
          <p:cNvSpPr txBox="1"/>
          <p:nvPr/>
        </p:nvSpPr>
        <p:spPr>
          <a:xfrm>
            <a:off x="5086050" y="3433950"/>
            <a:ext cx="33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Bi-</a:t>
            </a: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GRU and Bi-GRU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6"/>
          <p:cNvSpPr txBox="1"/>
          <p:nvPr/>
        </p:nvSpPr>
        <p:spPr>
          <a:xfrm>
            <a:off x="505150" y="3433950"/>
            <a:ext cx="33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6"/>
          <p:cNvSpPr txBox="1"/>
          <p:nvPr/>
        </p:nvSpPr>
        <p:spPr>
          <a:xfrm>
            <a:off x="5086050" y="3433950"/>
            <a:ext cx="33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Bi-GRU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" y="1668825"/>
            <a:ext cx="4229975" cy="1512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6700" y="1628450"/>
            <a:ext cx="4587300" cy="161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700" y="1862275"/>
            <a:ext cx="6740600" cy="22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58"/>
          <p:cNvGraphicFramePr/>
          <p:nvPr/>
        </p:nvGraphicFramePr>
        <p:xfrm>
          <a:off x="245613" y="98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{8CACE0EE-BD1D-4FFC-A17C-97493650FC66}</a:tableStyleId>
              </a:tblPr>
              <a:tblGrid>
                <a:gridCol w="1010750"/>
                <a:gridCol w="1148950"/>
                <a:gridCol w="1490850"/>
                <a:gridCol w="1524800"/>
                <a:gridCol w="3558725"/>
              </a:tblGrid>
              <a:tr h="57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Models</a:t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r>
                        <a:rPr b="1"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1-score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(c0)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(c1)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BERT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97%</a:t>
                      </a:r>
                      <a:endParaRPr b="1">
                        <a:solidFill>
                          <a:srgbClr val="00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</a:t>
                      </a:r>
                      <a:endParaRPr b="1">
                        <a:solidFill>
                          <a:srgbClr val="00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 b="1">
                        <a:solidFill>
                          <a:srgbClr val="00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Excellent at detecting human-written text (c0); slightly lower recall for AI-generated text (c1)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Bi-GRU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performance on both classes; well-balanced with slight edge in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detection.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Bi-LSTM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86% 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for both classes; marginally weaker than Bi-GRU in detecting AI-generated text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Decent overall; slightly biased towards human-written text.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LSTM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CC41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79%</a:t>
                      </a:r>
                      <a:endParaRPr b="1">
                        <a:solidFill>
                          <a:srgbClr val="CC412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CC41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</a:t>
                      </a:r>
                      <a:endParaRPr b="1">
                        <a:solidFill>
                          <a:srgbClr val="CC412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CC41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b="1">
                        <a:solidFill>
                          <a:srgbClr val="CC412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Struggles especially with AI-generated text; lowest performance across metrics.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 txBox="1"/>
          <p:nvPr>
            <p:ph type="title"/>
          </p:nvPr>
        </p:nvSpPr>
        <p:spPr>
          <a:xfrm>
            <a:off x="457200" y="126832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59"/>
          <p:cNvSpPr txBox="1"/>
          <p:nvPr>
            <p:ph idx="1" type="body"/>
          </p:nvPr>
        </p:nvSpPr>
        <p:spPr>
          <a:xfrm>
            <a:off x="457200" y="2325650"/>
            <a:ext cx="82296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Insights from the results, analysis</a:t>
            </a:r>
            <a:endParaRPr sz="2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0"/>
          <p:cNvSpPr txBox="1"/>
          <p:nvPr>
            <p:ph idx="1" type="body"/>
          </p:nvPr>
        </p:nvSpPr>
        <p:spPr>
          <a:xfrm>
            <a:off x="457200" y="1207975"/>
            <a:ext cx="82296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Char char="➢"/>
            </a:pP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There’s a steady improvement in </a:t>
            </a: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</a:t>
            </a:r>
            <a:r>
              <a:rPr b="1" lang="en" sz="23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LSTM → GRU → Bi-LSTM → Bi-GRU → BERT</a:t>
            </a:r>
            <a:endParaRPr b="1" sz="23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Char char="➢"/>
            </a:pPr>
            <a:r>
              <a:rPr b="1"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</a:t>
            </a: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performed better than </a:t>
            </a:r>
            <a:r>
              <a:rPr b="1"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RNNs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Char char="➢"/>
            </a:pPr>
            <a:r>
              <a:rPr b="1"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Bidirectional </a:t>
            </a: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performed better </a:t>
            </a: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 their </a:t>
            </a:r>
            <a:r>
              <a:rPr b="1"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unidirectional </a:t>
            </a: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variants</a:t>
            </a: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Char char="➢"/>
            </a:pPr>
            <a:r>
              <a:rPr b="1"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 outperformed LSTM</a:t>
            </a:r>
            <a:r>
              <a:rPr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but inclusion of bidirectionality outperformed GRU</a:t>
            </a: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A86E8"/>
              </a:buClr>
              <a:buSzPts val="2300"/>
              <a:buFont typeface="Calibri"/>
              <a:buChar char="➢"/>
            </a:pPr>
            <a:r>
              <a:rPr lang="en" sz="23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Bi-GRU has the most stable training curve in RNNs with minimal divergence between training and validation - good generalization</a:t>
            </a:r>
            <a:endParaRPr sz="23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60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1"/>
          <p:cNvSpPr txBox="1"/>
          <p:nvPr>
            <p:ph idx="1" type="body"/>
          </p:nvPr>
        </p:nvSpPr>
        <p:spPr>
          <a:xfrm>
            <a:off x="457200" y="1207975"/>
            <a:ext cx="82296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shows delayed learning while GRU and bidirectional shows faster learning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Bi-LSTM performed well, but Bi-GRU won in terms of structure simplicity and accuracy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Bi-directional models has faster convergence rate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61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2"/>
          <p:cNvSpPr txBox="1"/>
          <p:nvPr>
            <p:ph type="title"/>
          </p:nvPr>
        </p:nvSpPr>
        <p:spPr>
          <a:xfrm>
            <a:off x="457200" y="1268319"/>
            <a:ext cx="82296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Future Work 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and 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Future-work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63"/>
          <p:cNvSpPr txBox="1"/>
          <p:nvPr>
            <p:ph idx="1" type="body"/>
          </p:nvPr>
        </p:nvSpPr>
        <p:spPr>
          <a:xfrm>
            <a:off x="457200" y="1207975"/>
            <a:ext cx="8229600" cy="3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Architectures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Combine transformers (e.g., BERT) with lightweight models (e.g., Bi-GRU).</a:t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Adversarial Robustness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Study model resistance to paraphrased or obfuscated AGT.</a:t>
            </a:r>
            <a:endParaRPr sz="22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Domain and Language Generalization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200"/>
              <a:buFont typeface="Calibri"/>
              <a:buChar char="○"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Improve cross-context and cross-language applicability.</a:t>
            </a:r>
            <a:endParaRPr sz="22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63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Future-work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64"/>
          <p:cNvSpPr txBox="1"/>
          <p:nvPr>
            <p:ph idx="1" type="body"/>
          </p:nvPr>
        </p:nvSpPr>
        <p:spPr>
          <a:xfrm>
            <a:off x="457200" y="1207975"/>
            <a:ext cx="8229600" cy="3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and Efficiency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Compress large models using distillation, or pruning. Develop parallelizable architectures for faster inference.</a:t>
            </a:r>
            <a:endParaRPr sz="22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➢"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Alternative Architectures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200"/>
              <a:buFont typeface="Calibri"/>
              <a:buChar char="○"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Explore Informer models to handle long sequences efficiently (sub-quadratic complexity). Use Bi-GRU for short-term dependencies where full transformer context is unnecessary.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64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5"/>
          <p:cNvSpPr txBox="1"/>
          <p:nvPr>
            <p:ph idx="1" type="body"/>
          </p:nvPr>
        </p:nvSpPr>
        <p:spPr>
          <a:xfrm>
            <a:off x="457200" y="1207975"/>
            <a:ext cx="82296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Stacking the odds: Transformer-based ensemble for ai text detection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Proceedings of the 21st Workshop of the Australasian Language Technology Association (ALTA), 2023.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Biscope: Ai-generated text detection by checking memorization of preceding tokens in Findings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EMNLP 2024.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Detecting ai-generated text with pre-trained models using linguistic features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Proceedings of ICON 2024.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Human vs machine: An automated machine-generated text detection approach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Proceedings of ICON 2024.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65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34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6"/>
          <p:cNvSpPr txBox="1"/>
          <p:nvPr>
            <p:ph idx="1" type="body"/>
          </p:nvPr>
        </p:nvSpPr>
        <p:spPr>
          <a:xfrm>
            <a:off x="457200" y="1207975"/>
            <a:ext cx="82296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Essaydetect at genai detection task 2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GenAIDetect 2025.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Ai-generated text detection and classification based</a:t>
            </a:r>
            <a:r>
              <a:rPr lang="en" sz="2200">
                <a:solidFill>
                  <a:srgbClr val="CCCCCC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 bert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arXiv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Enhancing ai text detection: Embracing bi-lstm</a:t>
            </a:r>
            <a:r>
              <a:rPr lang="en" sz="2200">
                <a:solidFill>
                  <a:srgbClr val="CCCCCC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 transformer block fusion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2024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Radar: Robust ai text detection via adversarial learning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NeurIPS 2023.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Biscope: Ai-generated text detection by checking memorization of preceding tokens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NeurIPS 2024.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❖"/>
            </a:pPr>
            <a:r>
              <a:rPr lang="en" sz="2200" u="sng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Robust ai-generated text detection by restricted embeddings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 Conference Proceedings, 2024.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66"/>
          <p:cNvCxnSpPr/>
          <p:nvPr/>
        </p:nvCxnSpPr>
        <p:spPr>
          <a:xfrm>
            <a:off x="492300" y="860875"/>
            <a:ext cx="7767600" cy="6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